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4013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0" y="274320"/>
            <a:ext cx="164592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840480" y="502920"/>
            <a:ext cx="685800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MediBridge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Assistant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0" y="2971800"/>
            <a:ext cx="3657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language barriers in healthcare, powered by AI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6B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 Abin²   |  </a:t>
            </a:r>
            <a:r>
              <a:rPr lang="en-US" dirty="0" err="1">
                <a:solidFill>
                  <a:srgbClr val="6B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Cipherthon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EEBD27D-E40D-7AE9-33B3-D31E0283C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7238" y="25669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A6FC94A-09A6-08C8-1E43-CC2DE68E5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9638" y="2719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2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kills in hospitals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132320" cy="530352"/>
          </a:xfrm>
          <a:prstGeom prst="rect">
            <a:avLst/>
          </a:prstGeom>
          <a:solidFill>
            <a:srgbClr val="112B36"/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" cy="5303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Kerala has 10+ languages spoken across districts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7132320" cy="530352"/>
          </a:xfrm>
          <a:prstGeom prst="rect">
            <a:avLst/>
          </a:prstGeom>
          <a:solidFill>
            <a:srgbClr val="112B36"/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54864" cy="5303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2029968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 Doctors speak English/Malayalam — patients speak Tulu, Kannada, Hindi, Beary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688336"/>
            <a:ext cx="7132320" cy="530352"/>
          </a:xfrm>
          <a:prstGeom prst="rect">
            <a:avLst/>
          </a:prstGeom>
          <a:solidFill>
            <a:srgbClr val="112B36"/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57200" y="2688336"/>
            <a:ext cx="54864" cy="5303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94360" y="268833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Miscommunication → wrong treatment → lives at risk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346704"/>
            <a:ext cx="7132320" cy="530352"/>
          </a:xfrm>
          <a:prstGeom prst="rect">
            <a:avLst/>
          </a:prstGeom>
          <a:solidFill>
            <a:srgbClr val="112B36"/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" y="3346704"/>
            <a:ext cx="54864" cy="5303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94360" y="3346704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📵  Rural areas have no internet during emergencies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005072"/>
            <a:ext cx="7132320" cy="530352"/>
          </a:xfrm>
          <a:prstGeom prst="rect">
            <a:avLst/>
          </a:prstGeom>
          <a:solidFill>
            <a:srgbClr val="112B36"/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57200" y="4005072"/>
            <a:ext cx="54864" cy="5303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94360" y="400507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No centralized outbreak detection at community level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In Kasaragod alone, 6+ languages are spoken daily in hospitals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2E38"/>
          </a:solidFill>
          <a:ln w="12700">
            <a:solidFill>
              <a:srgbClr val="0A2E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MediBridge — The Solution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82880" y="1051560"/>
            <a:ext cx="2743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🗣️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691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Medical Translation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0756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languages, Speech-to-Speech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05156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154680" y="1051560"/>
            <a:ext cx="2743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91840" y="1188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91840" y="1691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Health Bot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0756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analysis, regional awareness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126480" y="1051560"/>
            <a:ext cx="2743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63640" y="1188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🚨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63640" y="1691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Finder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20756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+ 20 Kerala hospitals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" y="278892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82880" y="2788920"/>
            <a:ext cx="2743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0040" y="29260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20040" y="3429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Outbreak Detection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" y="38130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reporting + AI analysis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54680" y="278892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154680" y="2788920"/>
            <a:ext cx="2743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91840" y="29260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📴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291840" y="3429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91840" y="38130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Pre-translated phrases + first aid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686800" y="1051560"/>
            <a:ext cx="228600" cy="3383280"/>
          </a:xfrm>
          <a:prstGeom prst="rect">
            <a:avLst/>
          </a:prstGeom>
          <a:solidFill>
            <a:srgbClr val="E8F6F8"/>
          </a:solidFill>
          <a:ln w="12700">
            <a:solidFill>
              <a:srgbClr val="E8F6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82880" y="45720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app.  Ten languages.  Saves lives.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2E38"/>
          </a:solidFill>
          <a:ln w="12700">
            <a:solidFill>
              <a:srgbClr val="0A2E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Feature 1: AI-Powered Medical Translation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82880" y="1051560"/>
            <a:ext cx="2743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92608" y="1051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→ Patient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1737360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speaks/types in English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560320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translates to patient's language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3383280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 reads aloud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08960" y="105156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108960" y="1051560"/>
            <a:ext cx="274320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18688" y="1051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→ Doctor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73552" y="1737360"/>
            <a:ext cx="219456" cy="21945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566160" y="16916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speaks in their language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73552" y="2560320"/>
            <a:ext cx="219456" cy="21945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566160" y="25146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translates to English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73552" y="3383280"/>
            <a:ext cx="219456" cy="21945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566160" y="33375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reads or listens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105156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035040" y="1051560"/>
            <a:ext cx="274320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144768" y="1051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Explainer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99632" y="1737360"/>
            <a:ext cx="219456" cy="21945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492240" y="16916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any prescription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99632" y="2560320"/>
            <a:ext cx="219456" cy="21945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92240" y="25146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explains in simple terms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99632" y="3383280"/>
            <a:ext cx="219456" cy="21945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492240" y="33375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in patient's language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2880" y="4572000"/>
            <a:ext cx="8778240" cy="365760"/>
          </a:xfrm>
          <a:prstGeom prst="rect">
            <a:avLst/>
          </a:prstGeom>
          <a:solidFill>
            <a:srgbClr val="E8F6F8"/>
          </a:solidFill>
          <a:ln w="12700">
            <a:solidFill>
              <a:srgbClr val="E8F6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65760" y="45720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Supported: English · Malayalam · Hindi · Kannada · Tamil · Tulu · Beary · Urdu · Konkani · Marathi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2E38"/>
          </a:solidFill>
          <a:ln w="12700">
            <a:solidFill>
              <a:srgbClr val="0A2E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Feature 2: AI Health Bot — Symptom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Region-Aware Intelligence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for Kerala/Kasaragod health patterns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Knows: Dengue, Leptospirosis, Chikungunya, Typhoid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monsoon season disease risks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English, Malayalam, or Manglish input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0515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Risk Level Indicator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508760"/>
            <a:ext cx="4114800" cy="658368"/>
          </a:xfrm>
          <a:prstGeom prst="rect">
            <a:avLst/>
          </a:prstGeom>
          <a:solidFill>
            <a:srgbClr val="F0FFF4"/>
          </a:solidFill>
          <a:ln w="12700">
            <a:solidFill>
              <a:srgbClr val="38A16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508760"/>
            <a:ext cx="64008" cy="658368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92040" y="150876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63640" y="150876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at home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304288"/>
            <a:ext cx="4114800" cy="658368"/>
          </a:xfrm>
          <a:prstGeom prst="rect">
            <a:avLst/>
          </a:prstGeom>
          <a:solidFill>
            <a:srgbClr val="FFFBEB"/>
          </a:solidFill>
          <a:ln w="12700">
            <a:solidFill>
              <a:srgbClr val="D69E2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754880" y="2304288"/>
            <a:ext cx="64008" cy="658368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92040" y="230428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230428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clinic soon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099816"/>
            <a:ext cx="4114800" cy="658368"/>
          </a:xfrm>
          <a:prstGeom prst="rect">
            <a:avLst/>
          </a:prstGeom>
          <a:solidFill>
            <a:srgbClr val="FFF7ED"/>
          </a:solidFill>
          <a:ln w="12700">
            <a:solidFill>
              <a:srgbClr val="DD6B2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54880" y="3099816"/>
            <a:ext cx="64008" cy="658368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92040" y="309981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309981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 medical care today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895344"/>
            <a:ext cx="4114800" cy="658368"/>
          </a:xfrm>
          <a:prstGeom prst="rect">
            <a:avLst/>
          </a:prstGeom>
          <a:solidFill>
            <a:srgbClr val="FFF5F5"/>
          </a:solidFill>
          <a:ln w="12700">
            <a:solidFill>
              <a:srgbClr val="E53E3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754880" y="3895344"/>
            <a:ext cx="64008" cy="65836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892040" y="3895344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389534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hospital NOW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2E38"/>
          </a:solidFill>
          <a:ln w="12700">
            <a:solidFill>
              <a:srgbClr val="0A2E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⚕️  Feature 3: Medical Safety First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3200400"/>
          </a:xfrm>
          <a:prstGeom prst="rect">
            <a:avLst/>
          </a:prstGeom>
          <a:solidFill>
            <a:srgbClr val="FFF5F5"/>
          </a:solidFill>
          <a:ln w="12700">
            <a:solidFill>
              <a:srgbClr val="E53E3E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14800" cy="5029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NEVER…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Gives definitive diagnoses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Prescribes medication or dosages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Replaces a qualified doctor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114800" cy="3200400"/>
          </a:xfrm>
          <a:prstGeom prst="rect">
            <a:avLst/>
          </a:prstGeom>
          <a:solidFill>
            <a:srgbClr val="F0FFF4"/>
          </a:solidFill>
          <a:ln w="12700">
            <a:solidFill>
              <a:srgbClr val="38A169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4114800" cy="50292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92040" y="1051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ALWAYS…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Says "POSSIBLE conditions" only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3774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Ends with "Consult a qualified doctor"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0632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Flags emergencies with 🚨 alerts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7490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Shows a persistent safety disclaimer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45720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Responsible AI in Healthcare — built with safety at the core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2E38"/>
          </a:solidFill>
          <a:ln w="12700">
            <a:solidFill>
              <a:srgbClr val="0A2E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Feature 4: Hospital &amp; Emergency Finder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1508760" cy="1508760"/>
          </a:xfrm>
          <a:prstGeom prst="rect">
            <a:avLst/>
          </a:prstGeom>
          <a:solidFill>
            <a:srgbClr val="E8F6F8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28600" y="11430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8600" y="173736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0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55648" y="1810512"/>
            <a:ext cx="201168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965960" y="1097280"/>
            <a:ext cx="1508760" cy="1508760"/>
          </a:xfrm>
          <a:prstGeom prst="rect">
            <a:avLst/>
          </a:prstGeom>
          <a:solidFill>
            <a:srgbClr val="E8F6F8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965960" y="11430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🔴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965960" y="173736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0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Hospital"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appears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93008" y="1810512"/>
            <a:ext cx="201168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703320" y="1097280"/>
            <a:ext cx="1508760" cy="1508760"/>
          </a:xfrm>
          <a:prstGeom prst="rect">
            <a:avLst/>
          </a:prstGeom>
          <a:solidFill>
            <a:srgbClr val="E8F6F8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03320" y="11430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703320" y="173736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0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locates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230368" y="1810512"/>
            <a:ext cx="201168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440680" y="1097280"/>
            <a:ext cx="1508760" cy="1508760"/>
          </a:xfrm>
          <a:prstGeom prst="rect">
            <a:avLst/>
          </a:prstGeom>
          <a:solidFill>
            <a:srgbClr val="E8F6F8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40680" y="11430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🏥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40680" y="173736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0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by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67728" y="1810512"/>
            <a:ext cx="201168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178040" y="1097280"/>
            <a:ext cx="1508760" cy="1508760"/>
          </a:xfrm>
          <a:prstGeom prst="rect">
            <a:avLst/>
          </a:prstGeom>
          <a:solidFill>
            <a:srgbClr val="E8F6F8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178040" y="11430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🗺️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178040" y="173736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0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/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hospital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283464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65760" y="28346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20 real Kerala hospitals with GPS coordinates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17720" y="283464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754880" y="28346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☎️  One-tap ambulance call → 108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28600" y="374904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65760" y="37490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Haversine formula for precise distance calculation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617720" y="374904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54880" y="37490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No API key needed — uses built-in GPS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5: Offline Emergency Mode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📴  Because rural Kerala has unstable internet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920240" cy="2377440"/>
          </a:xfrm>
          <a:prstGeom prst="rect">
            <a:avLst/>
          </a:prstGeom>
          <a:solidFill>
            <a:srgbClr val="0D3A49"/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Pre-translated phrases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3200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5 languages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417320"/>
            <a:ext cx="1920240" cy="2377440"/>
          </a:xfrm>
          <a:prstGeom prst="rect">
            <a:avLst/>
          </a:prstGeom>
          <a:solidFill>
            <a:srgbClr val="0D3A49"/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468880" y="1463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📞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68880" y="21031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468880" y="27889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numbers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468880" y="3200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108, 100, 1056...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1417320"/>
            <a:ext cx="1920240" cy="2377440"/>
          </a:xfrm>
          <a:prstGeom prst="rect">
            <a:avLst/>
          </a:prstGeom>
          <a:solidFill>
            <a:srgbClr val="0D3A49"/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0" y="1463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🩹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0" y="21031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572000" y="27889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aid guides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0" y="3200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Attack, Snake Bite, Burns...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75120" y="1417320"/>
            <a:ext cx="1920240" cy="2377440"/>
          </a:xfrm>
          <a:prstGeom prst="rect">
            <a:avLst/>
          </a:prstGeom>
          <a:solidFill>
            <a:srgbClr val="0D3A49"/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675120" y="1463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🔊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675120" y="21031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∞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675120" y="27889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675120" y="3200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internet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FBB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Emergency · Doctor Questions · Medical Instructions · First Aid · Patient Comfort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2E38"/>
          </a:solidFill>
          <a:ln w="12700">
            <a:solidFill>
              <a:srgbClr val="0A2E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Feature 6: Disease Early Warning Network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Community-Powered Surveillance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82880" y="146304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14400" y="1283677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645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Report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20574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symptom reports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symptoms · 14 districts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95728" y="146304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127248" y="1252728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3127248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87168" y="1645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87168" y="20574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Outbreak risk scoring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08576" y="146304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340096" y="1252728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340096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00016" y="1645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0016" y="20574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 · Heatmap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cards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21424" y="146304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552944" y="1251673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3" name="Text 21"/>
          <p:cNvSpPr/>
          <p:nvPr/>
        </p:nvSpPr>
        <p:spPr>
          <a:xfrm>
            <a:off x="7552944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12864" y="1645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Network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12864" y="20574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doctors share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observations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82880" y="3840480"/>
            <a:ext cx="8778240" cy="777240"/>
          </a:xfrm>
          <a:prstGeom prst="rect">
            <a:avLst/>
          </a:prstGeom>
          <a:solidFill>
            <a:srgbClr val="0D3A4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65760" y="38404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Hackathon Demo: Simulation Mode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4206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"Simulate Dengue Outbreak" injects 15 realistic reports — dashboard updates live!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2E38"/>
          </a:solidFill>
          <a:ln w="12700">
            <a:solidFill>
              <a:srgbClr val="0A2E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Feature 7 &amp; 8: Health History + Multilingual UI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82880" y="1051560"/>
            <a:ext cx="4114800" cy="457200"/>
          </a:xfrm>
          <a:prstGeom prst="rect">
            <a:avLst/>
          </a:prstGeom>
          <a:solidFill>
            <a:srgbClr val="0A2E38"/>
          </a:solidFill>
          <a:ln w="12700">
            <a:solidFill>
              <a:srgbClr val="0A2E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Health History &amp; Tracking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1664208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4360" y="16184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Auto-saves every AI analysis locally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94360" y="21671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view with risk color coding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761488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94360" y="27157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symptom detection (3+ → alert)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3310128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94360" y="32644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 entries to review full analysis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971800"/>
            <a:ext cx="3840480" cy="228600"/>
          </a:xfrm>
          <a:prstGeom prst="rect">
            <a:avLst/>
          </a:prstGeom>
          <a:solidFill>
            <a:srgbClr val="E8F6F8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11480" y="2953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 Fever, Headache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37560" y="2953512"/>
            <a:ext cx="804672" cy="22860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337560" y="295351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3246120"/>
            <a:ext cx="3840480" cy="228600"/>
          </a:xfrm>
          <a:prstGeom prst="rect">
            <a:avLst/>
          </a:prstGeom>
          <a:solidFill>
            <a:srgbClr val="E8F6F8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32278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3: Cough, Fatigue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37560" y="3227832"/>
            <a:ext cx="804672" cy="22860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337560" y="322783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" y="3520440"/>
            <a:ext cx="3840480" cy="228600"/>
          </a:xfrm>
          <a:prstGeom prst="rect">
            <a:avLst/>
          </a:prstGeom>
          <a:solidFill>
            <a:srgbClr val="E8F6F8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11480" y="35021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5: Fever (recurring!)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37560" y="3502152"/>
            <a:ext cx="804672" cy="22860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337560" y="350215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0" y="1051560"/>
            <a:ext cx="4297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572000" y="1051560"/>
            <a:ext cx="42976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0916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Multilingual Interface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09160" y="160020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UI strings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English + Malayalam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via 🌐 icon — entire app translates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for elderly users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2788920"/>
            <a:ext cx="4297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572000" y="2788920"/>
            <a:ext cx="429768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09160" y="27889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Real-World Health Data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09160" y="333756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advisories from WHO, Kerala IDSP, MoHFW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Month-aware alerts (monsoon vs winter)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Dengue 22K/yr · Leptospirosis 3.5K/yr (Kerala stats)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2E38"/>
          </a:solidFill>
          <a:ln w="12700">
            <a:solidFill>
              <a:srgbClr val="0A2E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Technical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011680" cy="640080"/>
          </a:xfrm>
          <a:prstGeom prst="rect">
            <a:avLst/>
          </a:prstGeom>
          <a:solidFill>
            <a:srgbClr val="0A2E38"/>
          </a:solidFill>
          <a:ln w="12700">
            <a:solidFill>
              <a:srgbClr val="0A2E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</a:t>
            </a:r>
            <a:endParaRPr lang="en-US" sz="13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B838206-092B-0C11-C9A2-6E6F7D90FD0A}"/>
              </a:ext>
            </a:extLst>
          </p:cNvPr>
          <p:cNvGrpSpPr/>
          <p:nvPr/>
        </p:nvGrpSpPr>
        <p:grpSpPr>
          <a:xfrm>
            <a:off x="2335237" y="1163751"/>
            <a:ext cx="2834640" cy="3251395"/>
            <a:chOff x="2169942" y="1163399"/>
            <a:chExt cx="2834640" cy="3251395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E8DA748-362D-C3E3-1087-BF71EA2FFF0E}"/>
                </a:ext>
              </a:extLst>
            </p:cNvPr>
            <p:cNvGrpSpPr/>
            <p:nvPr/>
          </p:nvGrpSpPr>
          <p:grpSpPr>
            <a:xfrm>
              <a:off x="2169942" y="1168674"/>
              <a:ext cx="2834640" cy="3246120"/>
              <a:chOff x="2286000" y="457200"/>
              <a:chExt cx="2834640" cy="3246120"/>
            </a:xfrm>
          </p:grpSpPr>
          <p:sp>
            <p:nvSpPr>
              <p:cNvPr id="7" name="Shape 5"/>
              <p:cNvSpPr/>
              <p:nvPr/>
            </p:nvSpPr>
            <p:spPr>
              <a:xfrm>
                <a:off x="3200400" y="457200"/>
                <a:ext cx="1920240" cy="502920"/>
              </a:xfrm>
              <a:prstGeom prst="rect">
                <a:avLst/>
              </a:prstGeom>
              <a:solidFill>
                <a:srgbClr val="028090"/>
              </a:solidFill>
              <a:ln w="12700">
                <a:solidFill>
                  <a:srgbClr val="028090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" name="Shape 7"/>
              <p:cNvSpPr/>
              <p:nvPr/>
            </p:nvSpPr>
            <p:spPr>
              <a:xfrm>
                <a:off x="2286000" y="667512"/>
                <a:ext cx="914400" cy="36576"/>
              </a:xfrm>
              <a:prstGeom prst="rect">
                <a:avLst/>
              </a:prstGeom>
              <a:solidFill>
                <a:srgbClr val="AACDD5"/>
              </a:solidFill>
              <a:ln w="12700">
                <a:solidFill>
                  <a:srgbClr val="AACDD5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" name="Shape 8"/>
              <p:cNvSpPr/>
              <p:nvPr/>
            </p:nvSpPr>
            <p:spPr>
              <a:xfrm>
                <a:off x="3200400" y="1280160"/>
                <a:ext cx="1920240" cy="502920"/>
              </a:xfrm>
              <a:prstGeom prst="rect">
                <a:avLst/>
              </a:prstGeom>
              <a:solidFill>
                <a:srgbClr val="00A896"/>
              </a:solidFill>
              <a:ln w="12700">
                <a:solidFill>
                  <a:srgbClr val="00A896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Shape 10"/>
              <p:cNvSpPr/>
              <p:nvPr/>
            </p:nvSpPr>
            <p:spPr>
              <a:xfrm>
                <a:off x="2286000" y="1490472"/>
                <a:ext cx="914400" cy="36576"/>
              </a:xfrm>
              <a:prstGeom prst="rect">
                <a:avLst/>
              </a:prstGeom>
              <a:solidFill>
                <a:srgbClr val="AACDD5"/>
              </a:solidFill>
              <a:ln w="12700">
                <a:solidFill>
                  <a:srgbClr val="AACDD5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Shape 11"/>
              <p:cNvSpPr/>
              <p:nvPr/>
            </p:nvSpPr>
            <p:spPr>
              <a:xfrm>
                <a:off x="3200400" y="1920240"/>
                <a:ext cx="1920240" cy="502920"/>
              </a:xfrm>
              <a:prstGeom prst="rect">
                <a:avLst/>
              </a:prstGeom>
              <a:solidFill>
                <a:srgbClr val="00A896"/>
              </a:solidFill>
              <a:ln w="12700">
                <a:solidFill>
                  <a:srgbClr val="00A896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Shape 13"/>
              <p:cNvSpPr/>
              <p:nvPr/>
            </p:nvSpPr>
            <p:spPr>
              <a:xfrm>
                <a:off x="2286000" y="2130552"/>
                <a:ext cx="914400" cy="36576"/>
              </a:xfrm>
              <a:prstGeom prst="rect">
                <a:avLst/>
              </a:prstGeom>
              <a:solidFill>
                <a:srgbClr val="AACDD5"/>
              </a:solidFill>
              <a:ln w="12700">
                <a:solidFill>
                  <a:srgbClr val="AACDD5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Shape 14"/>
              <p:cNvSpPr/>
              <p:nvPr/>
            </p:nvSpPr>
            <p:spPr>
              <a:xfrm>
                <a:off x="3200400" y="2560320"/>
                <a:ext cx="1920240" cy="502920"/>
              </a:xfrm>
              <a:prstGeom prst="rect">
                <a:avLst/>
              </a:prstGeom>
              <a:solidFill>
                <a:srgbClr val="02C39A"/>
              </a:solidFill>
              <a:ln w="12700">
                <a:solidFill>
                  <a:srgbClr val="02C39A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Shape 16"/>
              <p:cNvSpPr/>
              <p:nvPr/>
            </p:nvSpPr>
            <p:spPr>
              <a:xfrm>
                <a:off x="2286000" y="2770632"/>
                <a:ext cx="914400" cy="36576"/>
              </a:xfrm>
              <a:prstGeom prst="rect">
                <a:avLst/>
              </a:prstGeom>
              <a:solidFill>
                <a:srgbClr val="AACDD5"/>
              </a:solidFill>
              <a:ln w="12700">
                <a:solidFill>
                  <a:srgbClr val="AACDD5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Shape 17"/>
              <p:cNvSpPr/>
              <p:nvPr/>
            </p:nvSpPr>
            <p:spPr>
              <a:xfrm>
                <a:off x="3200400" y="3200400"/>
                <a:ext cx="1920240" cy="502920"/>
              </a:xfrm>
              <a:prstGeom prst="rect">
                <a:avLst/>
              </a:prstGeom>
              <a:solidFill>
                <a:srgbClr val="02C39A"/>
              </a:solidFill>
              <a:ln w="12700">
                <a:solidFill>
                  <a:srgbClr val="02C39A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" name="Shape 19"/>
              <p:cNvSpPr/>
              <p:nvPr/>
            </p:nvSpPr>
            <p:spPr>
              <a:xfrm>
                <a:off x="2286000" y="3410712"/>
                <a:ext cx="914400" cy="36576"/>
              </a:xfrm>
              <a:prstGeom prst="rect">
                <a:avLst/>
              </a:prstGeom>
              <a:solidFill>
                <a:srgbClr val="AACDD5"/>
              </a:solidFill>
              <a:ln w="12700">
                <a:solidFill>
                  <a:srgbClr val="AACDD5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66C6AE2-CC16-B418-C545-F4A58DA2CC2F}"/>
                </a:ext>
              </a:extLst>
            </p:cNvPr>
            <p:cNvGrpSpPr/>
            <p:nvPr/>
          </p:nvGrpSpPr>
          <p:grpSpPr>
            <a:xfrm>
              <a:off x="3084342" y="1163399"/>
              <a:ext cx="1920240" cy="3246120"/>
              <a:chOff x="3200400" y="457200"/>
              <a:chExt cx="1920240" cy="3246120"/>
            </a:xfrm>
          </p:grpSpPr>
          <p:sp>
            <p:nvSpPr>
              <p:cNvPr id="8" name="Text 6"/>
              <p:cNvSpPr/>
              <p:nvPr/>
            </p:nvSpPr>
            <p:spPr>
              <a:xfrm>
                <a:off x="3200400" y="457200"/>
                <a:ext cx="1920240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5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Groq API</a:t>
                </a:r>
                <a:endParaRPr lang="en-US" sz="950" dirty="0"/>
              </a:p>
              <a:p>
                <a:pPr marL="0" indent="0" algn="ctr">
                  <a:buNone/>
                </a:pPr>
                <a:r>
                  <a:rPr lang="en-US" sz="95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(LLaMA 3.3 70B)</a:t>
                </a:r>
                <a:endParaRPr lang="en-US" sz="950" dirty="0"/>
              </a:p>
            </p:txBody>
          </p:sp>
          <p:sp>
            <p:nvSpPr>
              <p:cNvPr id="11" name="Text 9"/>
              <p:cNvSpPr/>
              <p:nvPr/>
            </p:nvSpPr>
            <p:spPr>
              <a:xfrm>
                <a:off x="3200400" y="1280160"/>
                <a:ext cx="1920240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5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Speech-to-Text</a:t>
                </a:r>
                <a:endParaRPr lang="en-US" sz="950" dirty="0"/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3200400" y="1920240"/>
                <a:ext cx="1920240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5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Text-to-Speech</a:t>
                </a:r>
                <a:endParaRPr lang="en-US" sz="950" dirty="0"/>
              </a:p>
            </p:txBody>
          </p:sp>
          <p:sp>
            <p:nvSpPr>
              <p:cNvPr id="17" name="Text 15"/>
              <p:cNvSpPr/>
              <p:nvPr/>
            </p:nvSpPr>
            <p:spPr>
              <a:xfrm>
                <a:off x="3200400" y="2560320"/>
                <a:ext cx="1920240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5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GPS (Geolocator)</a:t>
                </a:r>
                <a:endParaRPr lang="en-US" sz="950" dirty="0"/>
              </a:p>
            </p:txBody>
          </p:sp>
          <p:sp>
            <p:nvSpPr>
              <p:cNvPr id="20" name="Text 18"/>
              <p:cNvSpPr/>
              <p:nvPr/>
            </p:nvSpPr>
            <p:spPr>
              <a:xfrm>
                <a:off x="3200400" y="3200400"/>
                <a:ext cx="1920240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5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Local Storage</a:t>
                </a:r>
                <a:endParaRPr lang="en-US" sz="950" dirty="0"/>
              </a:p>
            </p:txBody>
          </p:sp>
        </p:grpSp>
      </p:grp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005840"/>
          <a:ext cx="3383280" cy="300837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Flutter + Material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Backend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API (LLaMA 3.3 70B)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speech_to_text + flutter_tts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fl_chart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SharedPreferences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Geolocator + URL Launcher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2E38"/>
          </a:solidFill>
          <a:ln w="12700">
            <a:solidFill>
              <a:srgbClr val="0A2E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Impact &amp; Scalability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46304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👨‍⚕️  Doctors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37360" y="146304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with any patient regardless of language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2167128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21671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🧑‍🦳  Patients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37360" y="216712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prescriptions in their own language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2871216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5760" y="28712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🏘️  Communities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37360" y="287121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symptoms → detect outbreaks early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3575304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357530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Hospitals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37360" y="357530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GPS-connected emergency response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6344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1463040"/>
            <a:ext cx="1920240" cy="1234440"/>
          </a:xfrm>
          <a:prstGeom prst="rect">
            <a:avLst/>
          </a:prstGeom>
          <a:solidFill>
            <a:srgbClr val="0A2E38"/>
          </a:solidFill>
          <a:ln w="12700">
            <a:solidFill>
              <a:srgbClr val="0A2E3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663440" y="1600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466344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20840" y="1463040"/>
            <a:ext cx="1920240" cy="1234440"/>
          </a:xfrm>
          <a:prstGeom prst="rect">
            <a:avLst/>
          </a:prstGeom>
          <a:solidFill>
            <a:srgbClr val="0A2E38"/>
          </a:solidFill>
          <a:ln w="12700">
            <a:solidFill>
              <a:srgbClr val="0A2E3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720840" y="1600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72084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Kerala Hospitals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2880360"/>
            <a:ext cx="1920240" cy="1234440"/>
          </a:xfrm>
          <a:prstGeom prst="rect">
            <a:avLst/>
          </a:prstGeom>
          <a:solidFill>
            <a:srgbClr val="0A2E38"/>
          </a:solidFill>
          <a:ln w="12700">
            <a:solidFill>
              <a:srgbClr val="0A2E3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663440" y="30175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4663440" y="3657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Covered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20840" y="2880360"/>
            <a:ext cx="1920240" cy="1234440"/>
          </a:xfrm>
          <a:prstGeom prst="rect">
            <a:avLst/>
          </a:prstGeom>
          <a:solidFill>
            <a:srgbClr val="0A2E38"/>
          </a:solidFill>
          <a:ln w="12700">
            <a:solidFill>
              <a:srgbClr val="0A2E3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720840" y="30175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6K+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6720840" y="3657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8600" y="4343400"/>
            <a:ext cx="8686800" cy="548640"/>
          </a:xfrm>
          <a:prstGeom prst="rect">
            <a:avLst/>
          </a:prstGeom>
          <a:solidFill>
            <a:srgbClr val="E8F6F8"/>
          </a:solidFill>
          <a:ln w="12700">
            <a:solidFill>
              <a:srgbClr val="D1E8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Deploy on Android · iOS · Web from a single codebase — easily add more languages and connect to government health APIs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solidFill>
            <a:srgbClr val="0D3A49"/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1️⃣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9144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Tab (30 sec)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078992"/>
            <a:ext cx="36576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520440" y="91440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→ Translates to Malayalam → Play audio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8229600" cy="658368"/>
          </a:xfrm>
          <a:prstGeom prst="rect">
            <a:avLst/>
          </a:prstGeom>
          <a:solidFill>
            <a:srgbClr val="0D3A49"/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171907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2️⃣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171907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Bot (45 sec)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1883664"/>
            <a:ext cx="36576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520440" y="171907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pain + Breathing → 🔴 EMERGENCY → Find Hospital → Navigate/Call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23744"/>
            <a:ext cx="8229600" cy="658368"/>
          </a:xfrm>
          <a:prstGeom prst="rect">
            <a:avLst/>
          </a:prstGeom>
          <a:solidFill>
            <a:srgbClr val="0D3A49"/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2920" y="2523744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3️⃣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252374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(30 sec)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83280" y="2688336"/>
            <a:ext cx="36576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520440" y="2523744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Mode → Dengue Outbreak → Charts + heatmap update live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28416"/>
            <a:ext cx="8229600" cy="658368"/>
          </a:xfrm>
          <a:prstGeom prst="rect">
            <a:avLst/>
          </a:prstGeom>
          <a:solidFill>
            <a:srgbClr val="0D3A49"/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02920" y="332841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4️⃣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332841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 (15 sec)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83280" y="3493008"/>
            <a:ext cx="36576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520440" y="3328416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tab → Browse phrases → Play TTS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133088"/>
            <a:ext cx="8229600" cy="658368"/>
          </a:xfrm>
          <a:prstGeom prst="rect">
            <a:avLst/>
          </a:prstGeom>
          <a:solidFill>
            <a:srgbClr val="0D3A49"/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02920" y="413308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5️⃣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43000" y="413308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(10 sec)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83280" y="4297680"/>
            <a:ext cx="36576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520440" y="4133088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🌐 → Switch to മലയാളം → Entire UI changes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total: ~8 minutes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224528" y="320040"/>
            <a:ext cx="201168" cy="9601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886200" y="612648"/>
            <a:ext cx="868680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MediBridge — Medical Language Assistant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0" y="2880360"/>
            <a:ext cx="3657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8D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app.  Ten languages.  Saves lives.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 Flutter  •  Groq AI  •  Speech Recognition  •  GPS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86000" y="4114800"/>
            <a:ext cx="4572000" cy="731520"/>
          </a:xfrm>
          <a:prstGeom prst="rect">
            <a:avLst/>
          </a:prstGeom>
          <a:solidFill>
            <a:srgbClr val="0D3A49"/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286000" y="41148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Abin²  |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Chipherthon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933</Words>
  <Application>Microsoft Office PowerPoint</Application>
  <PresentationFormat>On-screen Show (16:9)</PresentationFormat>
  <Paragraphs>226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MediBridge — Medical Language Assistant</dc:title>
  <dc:subject>PptxGenJS Presentation</dc:subject>
  <dc:creator>PptxGenJS</dc:creator>
  <cp:lastModifiedBy>Abin George</cp:lastModifiedBy>
  <cp:revision>3</cp:revision>
  <dcterms:created xsi:type="dcterms:W3CDTF">2026-03-11T09:32:26Z</dcterms:created>
  <dcterms:modified xsi:type="dcterms:W3CDTF">2026-03-12T07:38:29Z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2026-03-12T07:37:46Z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8b3c418c-06cc-47e1-9d06-f8960033a916</vt:lpwstr>
  </property>
  <property fmtid="{D5CDD505-2E9C-101B-9397-08002B2CF9AE}" pid="7" name="MSIP_Label_defa4170-0d19-0005-0004-bc88714345d2_ActionId">
    <vt:lpwstr>8553da77-f3dc-4a6e-91c4-2a839d2b87e2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